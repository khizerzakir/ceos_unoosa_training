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Background image: NASA Visible Earth “Earth from Space” / MODIS globe image https://visibleearth.nasa.gov/images/885/earth-from-space
- cubo overview and create() examples: https://cubo.readthedocs.io/en/latest/
- GitHub Pages can publish from a branch root or /docs folder: https://docs.github.com/en/pages/getting-started-with-github-pages/configuring-a-publishing-source-for-your-github-pages-site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cubo overview: https://cubo.readthedocs.io/en/latest/ lines 60-61 and 79-96 explain STAC + GEE and xr.DataArray output.
- xarray with Dask: https://docs.xarray.dev/en/stable/user-guide/dask.html lines 106-113 explain chunks and Dask integration.
- Africa image: NASA SVS “MODIS Land Cover of Africa” https://svs.gsfc.nasa.gov/2266
- Asia image: NASA Earth Observatory “Excessive Monsoon Rains Flood Asia” https://earthobservatory.nasa.gov/images/147006/excessive-monsoon-rains-flood-asia
- MODIS vegetation image: NASA SVS “Global Vegetation Index, Terra MODIS” https://svs.gsfc.nasa.gov/31053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cubo overview and create() returning xr.DataArray from STAC and GEE: https://cubo.readthedocs.io/en/latest/ lines 60-79 and 81-96.
- xarray methods work with Dask arrays: https://docs.xarray.dev/en/stable/user-guide/dask.html lines 106-110.
- Dask collections produce task graphs executed by schedulers: https://docs.dask.org/en/stable/10-minutes-to-dask.html lines 214-216.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xarray with Dask: chunks and chunked reading are described at https://docs.xarray.dev/en/stable/user-guide/dask.html lines 106-113 and 125-127.
- Dask chunk guidance that chunks means chunk shape, not number of chunks: https://docs.dask.org/en/latest/array-chunks.html .
- Dask overview: collections, task graphs, schedulers at https://docs.dask.org/en/stable/10-minutes-to-dask.html lines 214-216.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cubo create() examples and feature list: https://cubo.readthedocs.io/en/latest/ lines 126-198.
- Default STAC is Planetary Computer and another endpoint can be set with stac=...: https://cubo.readthedocs.io/en/latest/ lines 172-184.
- GEE mode requires gee=True and collection as GEE ID: https://cubo.readthedocs.io/en/latest/tutorials/using_gee.html lines 58-67 and 72-83.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xarray Dask guide notes that nearly all xarray methods work with Dask arrays: https://docs.xarray.dev/en/stable/user-guide/dask.html lines 106-110.
- Basic xarray dimensions/metadata overview reference: https://knowledge.dea.ga.gov.au/notebooks/Beginners_guide/08_Intro_to_xarray.html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Timing/layout is instructional guidance by author; GitHub Pages docs for publishing from /docs are at https://docs.github.com/en/pages/getting-started-with-github-pages/configuring-a-publishing-source-for-your-github-pages-site lines 73-76 and 91-99.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MOD13Q1 in Earth Engine: https://developers.google.com/earth-engine/datasets/catalog/MODIS_061_MOD13Q1 lines 58-84 and 76-84.
- cubo GEE initialization and gee=True usage: https://cubo.readthedocs.io/en/latest/tutorials/using_gee.html lines 58-67 and 72-83.
- Africa image: NASA SVS “MODIS Land Cover of Africa” https://svs.gsfc.nasa.gov/2266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Sentinel-3 OLCI Earth Engine catalog: https://developers.google.com/earth-engine/datasets/catalog/COPERNICUS_S3_OLCI lines 58-65, 76-85, and 93-99.
- Asia image: NASA Earth Observatory “Excessive Monsoon Rains Flood Asia” https://earthobservatory.nasa.gov/images/147006/excessive-monsoon-rains-flood-asia
- cubo GEE usage: https://cubo.readthedocs.io/en/latest/tutorials/using_gee.html lines 64-67.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Pages publishing source docs: https://docs.github.com/en/pages/getting-started-with-github-pages/configuring-a-publishing-source-for-your-github-pages-site lines 73-76 and 91-99.
- GitHub Pages entry file docs: https://docs.github.com/en/pages/getting-started-with-github-pages/creating-a-github-pages-site lines 107-110 and 146.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Summary slide synthesizes sources already cited: cubo docs, xarray Dask guide, Dask overview, and GitHub Pages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ssets/earth_modis_globe.jpg">    </p:cNvPr>
          <p:cNvPicPr>
            <a:picLocks noChangeAspect="1"/>
          </p:cNvPicPr>
          <p:nvPr/>
        </p:nvPicPr>
        <p:blipFill>
          <a:blip r:embed="rId1"/>
          <a:srcRect l="3467" r="3467" t="0" b="0"/>
          <a:stretch/>
        </p:blipFill>
        <p:spPr>
          <a:xfrm>
            <a:off x="5806440" y="0"/>
            <a:ext cx="6382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50992" cy="6858000"/>
          </a:xfrm>
          <a:prstGeom prst="rect">
            <a:avLst/>
          </a:prstGeom>
          <a:solidFill>
            <a:srgbClr val="030B14">
              <a:alpha val="97000"/>
            </a:srgbClr>
          </a:solidFill>
          <a:ln w="12700">
            <a:solidFill>
              <a:srgbClr val="030B1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808" y="65836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6675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90-minute tutorial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49808" y="123444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API calls to EO data cubes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68096" y="2304288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Dask basics, xarray mental models, and a cubo-first tutorial for Africa and Asia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8096" y="3218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Jupyter notebooks and GitHub Pages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9808" y="5257800"/>
            <a:ext cx="2240280" cy="822960"/>
          </a:xfrm>
          <a:prstGeom prst="roundRect">
            <a:avLst>
              <a:gd name="adj" fmla="val 8889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32688" y="54406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`cubo` → `xarray` → `dask`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154680" y="52578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46704" y="54406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 + Asia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836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deck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stack for climate resilience and risk monitoring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one simple access pattern, then keep the analysis labeled and scalable.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7780">
            <a:solidFill>
              <a:srgbClr val="2AD0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72768"/>
            <a:ext cx="4663440" cy="4526280"/>
          </a:xfrm>
          <a:prstGeom prst="roundRect">
            <a:avLst>
              <a:gd name="adj" fmla="val 1616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A practical teaching workflow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96112" y="2363724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286000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Medium-resolution EO is good for vegetation, coastal water, floods, and regional monitoring.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96112" y="3067812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990088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`cubo` hides backend switching so learners focus on concepts first.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96112" y="3771900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94176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`xarray` gives named dimensions; Dask lets the same object stay lazy and chunked.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96112" y="4475988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398264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notebook can become a static GitHub Pages tutorial.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5358384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6FA8F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6752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2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65960" y="5358384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536752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cubes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44952" y="535838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7AE582"/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44952" y="5367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ops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41648" y="5358384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536752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2D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docs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1627632"/>
            <a:ext cx="2743200" cy="1481328"/>
          </a:xfrm>
          <a:prstGeom prst="rect">
            <a:avLst/>
          </a:prstGeom>
          <a:solidFill>
            <a:srgbClr val="102336"/>
          </a:solidFill>
          <a:ln w="12700">
            <a:solidFill>
              <a:srgbClr val="28445F"/>
            </a:solidFill>
            <a:prstDash val="solid"/>
          </a:ln>
        </p:spPr>
      </p:sp>
      <p:pic>
        <p:nvPicPr>
          <p:cNvPr id="24" name="Image 0" descr="/mnt/data/assets/africa_modis_landcover.jpg">    </p:cNvPr>
          <p:cNvPicPr>
            <a:picLocks noChangeAspect="1"/>
          </p:cNvPicPr>
          <p:nvPr/>
        </p:nvPicPr>
        <p:blipFill>
          <a:blip r:embed="rId1"/>
          <a:srcRect l="0" r="0" t="11920" b="11920"/>
          <a:stretch/>
        </p:blipFill>
        <p:spPr>
          <a:xfrm>
            <a:off x="5650992" y="1700784"/>
            <a:ext cx="2596896" cy="133502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650992" y="327355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5F7FA"/>
                </a:solidFill>
              </a:rPr>
              <a:t>Africa example · MODIS vegetation context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5687568" y="35661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AAB7C7"/>
                </a:solidFill>
              </a:rPr>
              <a:t>NDVI / EVI time series for drought and crop stress discussions</a:t>
            </a:r>
            <a:endParaRPr lang="en-US" sz="1130" dirty="0"/>
          </a:p>
        </p:txBody>
      </p:sp>
      <p:sp>
        <p:nvSpPr>
          <p:cNvPr id="27" name="Shape 24"/>
          <p:cNvSpPr/>
          <p:nvPr/>
        </p:nvSpPr>
        <p:spPr>
          <a:xfrm>
            <a:off x="8641080" y="1627632"/>
            <a:ext cx="2880360" cy="1481328"/>
          </a:xfrm>
          <a:prstGeom prst="rect">
            <a:avLst/>
          </a:prstGeom>
          <a:solidFill>
            <a:srgbClr val="102336"/>
          </a:solidFill>
          <a:ln w="12700">
            <a:solidFill>
              <a:srgbClr val="28445F"/>
            </a:solidFill>
            <a:prstDash val="solid"/>
          </a:ln>
        </p:spPr>
      </p:sp>
      <p:pic>
        <p:nvPicPr>
          <p:cNvPr id="28" name="Image 1" descr="/mnt/data/assets/asia_floods.jpg">    </p:cNvPr>
          <p:cNvPicPr>
            <a:picLocks noChangeAspect="1"/>
          </p:cNvPicPr>
          <p:nvPr/>
        </p:nvPicPr>
        <p:blipFill>
          <a:blip r:embed="rId2"/>
          <a:srcRect l="0" r="0" t="13369" b="13369"/>
          <a:stretch/>
        </p:blipFill>
        <p:spPr>
          <a:xfrm>
            <a:off x="8714232" y="1700784"/>
            <a:ext cx="2734056" cy="133502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714232" y="3273552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5F7FA"/>
                </a:solidFill>
              </a:rPr>
              <a:t>Asia example · Sentinel-3 coastal quicklook</a:t>
            </a:r>
            <a:endParaRPr lang="en-US" sz="1420" dirty="0"/>
          </a:p>
        </p:txBody>
      </p:sp>
      <p:sp>
        <p:nvSpPr>
          <p:cNvPr id="30" name="Text 26"/>
          <p:cNvSpPr/>
          <p:nvPr/>
        </p:nvSpPr>
        <p:spPr>
          <a:xfrm>
            <a:off x="8750808" y="356616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AAB7C7"/>
                </a:solidFill>
              </a:rPr>
              <a:t>A simple path from remote API calls to regional visualization</a:t>
            </a:r>
            <a:endParaRPr lang="en-US" sz="1130" dirty="0"/>
          </a:p>
        </p:txBody>
      </p:sp>
      <p:sp>
        <p:nvSpPr>
          <p:cNvPr id="31" name="Shape 27"/>
          <p:cNvSpPr/>
          <p:nvPr/>
        </p:nvSpPr>
        <p:spPr>
          <a:xfrm>
            <a:off x="5577840" y="4114800"/>
            <a:ext cx="5943600" cy="1975104"/>
          </a:xfrm>
          <a:prstGeom prst="roundRect">
            <a:avLst>
              <a:gd name="adj" fmla="val 3704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pic>
        <p:nvPicPr>
          <p:cNvPr id="32" name="Image 2" descr="/mnt/data/assets/modis_ndvi_worl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4415409"/>
            <a:ext cx="2377440" cy="133731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321040" y="44348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Learner payoff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8339328" y="4878324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485632" y="4800600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mental model for remote EO access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8339328" y="5289804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485632" y="5212080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notebook that can be reused and published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8339328" y="5701284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485632" y="5623560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examples that still scale conceptually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65836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 · xarray · Dask · GitHub Pages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model: API call → xarray cube → lazy computation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the pipeline before the product details.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7780">
            <a:solidFill>
              <a:srgbClr val="2AD0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3657600"/>
            <a:ext cx="914400" cy="0"/>
          </a:xfrm>
          <a:prstGeom prst="line">
            <a:avLst/>
          </a:prstGeom>
          <a:noFill/>
          <a:ln w="27940">
            <a:solidFill>
              <a:srgbClr val="2AD0C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754880" y="3657600"/>
            <a:ext cx="914400" cy="0"/>
          </a:xfrm>
          <a:prstGeom prst="line">
            <a:avLst/>
          </a:prstGeom>
          <a:noFill/>
          <a:ln w="27940">
            <a:solidFill>
              <a:srgbClr val="2AD0C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96328" y="3657600"/>
            <a:ext cx="914400" cy="0"/>
          </a:xfrm>
          <a:prstGeom prst="line">
            <a:avLst/>
          </a:prstGeom>
          <a:noFill/>
          <a:ln w="27940">
            <a:solidFill>
              <a:srgbClr val="2AD0C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9808" y="30632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" y="32644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1. Remote catalog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or Earth Engine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39319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7C7"/>
                </a:solidFill>
              </a:rPr>
              <a:t>collection · bands · time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30632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0E2A33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28416" y="32644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2. `cubo.create(...)`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returns a cube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28416" y="39319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7C7"/>
                </a:solidFill>
              </a:rPr>
              <a:t>same call, different backend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50992" y="30632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32644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3. `xarray` keeps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dims + coords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60720" y="39319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7C7"/>
                </a:solidFill>
              </a:rPr>
              <a:t>sel · mean · groupby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01584" y="30632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11312" y="32644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4. Dask runs tasks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when needed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11312" y="39319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7C7"/>
                </a:solidFill>
              </a:rPr>
              <a:t>compute only at the end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" y="1847088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6FA8F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18562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2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21408" y="1847088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6FA8F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21408" y="18562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2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66160" y="184708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185623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847088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8562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DataArray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82512" y="184708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7AE582"/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18562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42632" y="1847088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7AE582"/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42632" y="185623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33104" y="1847088"/>
            <a:ext cx="932688" cy="310896"/>
          </a:xfrm>
          <a:prstGeom prst="roundRect">
            <a:avLst>
              <a:gd name="adj" fmla="val 23529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33104" y="185623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2D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875520" y="1847088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0" y="18562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2D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graph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51560" y="4892040"/>
            <a:ext cx="10058400" cy="822960"/>
          </a:xfrm>
          <a:prstGeom prst="roundRect">
            <a:avLst>
              <a:gd name="adj" fmla="val 8889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325880" y="516636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7FA"/>
                </a:solidFill>
              </a:rPr>
              <a:t>If learners understand this pipeline, they can swap collections and endpoints later without changing the conceptual workflow.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5836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 · xarray · Dask · GitHub Pages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Dask basics for EO tutorials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wisely, stay lazy, and compute late.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7780">
            <a:solidFill>
              <a:srgbClr val="2AD0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72768"/>
            <a:ext cx="2880360" cy="4526280"/>
          </a:xfrm>
          <a:prstGeom prst="roundRect">
            <a:avLst>
              <a:gd name="adj" fmla="val 2540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8288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D0C9"/>
                </a:solidFill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847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7FA"/>
                </a:solidFill>
              </a:rPr>
              <a:t>Chunk the array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54480" y="2139696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7C7"/>
                </a:solidFill>
              </a:rPr>
              <a:t>Chunks are small blocks of the larger dataset.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31821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D0C9"/>
                </a:solidFill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3200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7FA"/>
                </a:solidFill>
              </a:rPr>
              <a:t>Keep operations lazy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554480" y="349300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7C7"/>
                </a:solidFill>
              </a:rPr>
              <a:t>Most xarray operations can build a task graph without loading everything at once.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" y="45354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D0C9"/>
                </a:solidFill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4553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7FA"/>
                </a:solidFill>
              </a:rPr>
              <a:t>Trigger compute at the boundary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54480" y="484632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7C7"/>
                </a:solidFill>
              </a:rPr>
              <a:t>Use `.compute()`, plotting, or writing to disk only for the final result.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22192" y="1645920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0A1726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86784" y="1773936"/>
            <a:ext cx="355701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cube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ndvi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cube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"NDVI"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10000.0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ndvi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86784" y="38862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How to explain chunks visually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27648" y="4681728"/>
            <a:ext cx="512064" cy="0"/>
          </a:xfrm>
          <a:prstGeom prst="line">
            <a:avLst/>
          </a:prstGeom>
          <a:noFill/>
          <a:ln w="25400">
            <a:solidFill>
              <a:srgbClr val="2AD0C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059936" y="4315968"/>
            <a:ext cx="384048" cy="320040"/>
          </a:xfrm>
          <a:prstGeom prst="roundRect">
            <a:avLst>
              <a:gd name="adj" fmla="val 8571"/>
            </a:avLst>
          </a:prstGeom>
          <a:solidFill>
            <a:srgbClr val="224561"/>
          </a:solidFill>
          <a:ln w="7620">
            <a:solidFill>
              <a:srgbClr val="2E68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7136" y="4315968"/>
            <a:ext cx="384048" cy="320040"/>
          </a:xfrm>
          <a:prstGeom prst="roundRect">
            <a:avLst>
              <a:gd name="adj" fmla="val 8571"/>
            </a:avLst>
          </a:prstGeom>
          <a:solidFill>
            <a:srgbClr val="2A5A79"/>
          </a:solidFill>
          <a:ln w="7620">
            <a:solidFill>
              <a:srgbClr val="2E68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74336" y="4315968"/>
            <a:ext cx="384048" cy="320040"/>
          </a:xfrm>
          <a:prstGeom prst="roundRect">
            <a:avLst>
              <a:gd name="adj" fmla="val 8571"/>
            </a:avLst>
          </a:prstGeom>
          <a:solidFill>
            <a:srgbClr val="224561"/>
          </a:solidFill>
          <a:ln w="7620">
            <a:solidFill>
              <a:srgbClr val="2E68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31536" y="4315968"/>
            <a:ext cx="384048" cy="320040"/>
          </a:xfrm>
          <a:prstGeom prst="roundRect">
            <a:avLst>
              <a:gd name="adj" fmla="val 8571"/>
            </a:avLst>
          </a:prstGeom>
          <a:solidFill>
            <a:srgbClr val="2A5A79"/>
          </a:solidFill>
          <a:ln w="7620">
            <a:solidFill>
              <a:srgbClr val="2E68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59936" y="4709160"/>
            <a:ext cx="384048" cy="320040"/>
          </a:xfrm>
          <a:prstGeom prst="roundRect">
            <a:avLst>
              <a:gd name="adj" fmla="val 8571"/>
            </a:avLst>
          </a:prstGeom>
          <a:solidFill>
            <a:srgbClr val="2A5A79"/>
          </a:solidFill>
          <a:ln w="7620">
            <a:solidFill>
              <a:srgbClr val="2E68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17136" y="4709160"/>
            <a:ext cx="384048" cy="320040"/>
          </a:xfrm>
          <a:prstGeom prst="roundRect">
            <a:avLst>
              <a:gd name="adj" fmla="val 8571"/>
            </a:avLst>
          </a:prstGeom>
          <a:solidFill>
            <a:srgbClr val="224561"/>
          </a:solidFill>
          <a:ln w="7620">
            <a:solidFill>
              <a:srgbClr val="2E68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74336" y="4709160"/>
            <a:ext cx="384048" cy="320040"/>
          </a:xfrm>
          <a:prstGeom prst="roundRect">
            <a:avLst>
              <a:gd name="adj" fmla="val 8571"/>
            </a:avLst>
          </a:prstGeom>
          <a:solidFill>
            <a:srgbClr val="2A5A79"/>
          </a:solidFill>
          <a:ln w="7620">
            <a:solidFill>
              <a:srgbClr val="2E68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31536" y="4709160"/>
            <a:ext cx="384048" cy="320040"/>
          </a:xfrm>
          <a:prstGeom prst="roundRect">
            <a:avLst>
              <a:gd name="adj" fmla="val 8571"/>
            </a:avLst>
          </a:prstGeom>
          <a:solidFill>
            <a:srgbClr val="224561"/>
          </a:solidFill>
          <a:ln w="7620">
            <a:solidFill>
              <a:srgbClr val="2E68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9936" y="52120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7C7"/>
                </a:solidFill>
              </a:rPr>
              <a:t>many chunks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12864" y="4462272"/>
            <a:ext cx="822960" cy="658368"/>
          </a:xfrm>
          <a:prstGeom prst="roundRect">
            <a:avLst>
              <a:gd name="adj" fmla="val 4167"/>
            </a:avLst>
          </a:prstGeom>
          <a:solidFill>
            <a:srgbClr val="164B3F"/>
          </a:solidFill>
          <a:ln w="10160">
            <a:solidFill>
              <a:srgbClr val="7AE5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22592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</a:rPr>
              <a:t>one summary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</a:rPr>
              <a:t>series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19872" y="1645920"/>
            <a:ext cx="3364992" cy="4407408"/>
          </a:xfrm>
          <a:prstGeom prst="roundRect">
            <a:avLst>
              <a:gd name="adj" fmla="val 2174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39328" y="188366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Two beginner warnings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357616" y="2327148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224942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`chunks` means chunk shape, not number of chunks.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357616" y="2921508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28437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small chunks create too much scheduling overhead.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339328" y="379476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</a:rPr>
              <a:t>Use small AOIs and short time windows in teaching notebooks, then scale up once the pattern is clear.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8394192" y="5010912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6FA8F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94192" y="50200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2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308592" y="5010912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08592" y="50200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ops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287000" y="5010912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7AE582"/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87000" y="50200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836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 · xarray · Dask · GitHub Pages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calling with xarray using `cubo`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function call controls what, where, when, and which backend.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7780">
            <a:solidFill>
              <a:srgbClr val="2AD0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9344"/>
            <a:ext cx="4572000" cy="4498848"/>
          </a:xfrm>
          <a:prstGeom prst="roundRect">
            <a:avLst>
              <a:gd name="adj" fmla="val 1626"/>
            </a:avLst>
          </a:prstGeom>
          <a:solidFill>
            <a:srgbClr val="0A1726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37360"/>
            <a:ext cx="4242816" cy="4242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cubo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8.98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39.79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collection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"MODIS/061/MOD13Q1"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bands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"NDVI"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"EVI"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"2021-01-01"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"2021-12-31"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edge_size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resolution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35824" y="4096512"/>
            <a:ext cx="731520" cy="0"/>
          </a:xfrm>
          <a:prstGeom prst="line">
            <a:avLst/>
          </a:prstGeom>
          <a:noFill/>
          <a:ln w="25400">
            <a:solidFill>
              <a:srgbClr val="2AD0C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646920" y="4096512"/>
            <a:ext cx="731520" cy="0"/>
          </a:xfrm>
          <a:prstGeom prst="line">
            <a:avLst/>
          </a:prstGeom>
          <a:noFill/>
          <a:ln w="25400">
            <a:solidFill>
              <a:srgbClr val="2AD0C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32120" y="1691640"/>
            <a:ext cx="1965960" cy="932688"/>
          </a:xfrm>
          <a:prstGeom prst="roundRect">
            <a:avLst>
              <a:gd name="adj" fmla="val 7843"/>
            </a:avLst>
          </a:prstGeom>
          <a:solidFill>
            <a:srgbClr val="0E2A33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05856" y="1901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D0C9"/>
                </a:solidFill>
              </a:rPr>
              <a:t>What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05856" y="21762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</a:rPr>
              <a:t>collection + bands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08392" y="1691640"/>
            <a:ext cx="1965960" cy="932688"/>
          </a:xfrm>
          <a:prstGeom prst="roundRect">
            <a:avLst>
              <a:gd name="adj" fmla="val 7843"/>
            </a:avLst>
          </a:prstGeom>
          <a:solidFill>
            <a:srgbClr val="0E2A33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91272" y="190195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D0C9"/>
                </a:solidFill>
              </a:rPr>
              <a:t>Where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91272" y="21762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</a:rPr>
              <a:t>lat + lon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75520" y="1691640"/>
            <a:ext cx="1645920" cy="932688"/>
          </a:xfrm>
          <a:prstGeom prst="roundRect">
            <a:avLst>
              <a:gd name="adj" fmla="val 7843"/>
            </a:avLst>
          </a:prstGeom>
          <a:solidFill>
            <a:srgbClr val="0E2A33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49256" y="1901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D0C9"/>
                </a:solidFill>
              </a:rPr>
              <a:t>When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49256" y="21762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</a:rPr>
              <a:t>start + 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32120" y="2880360"/>
            <a:ext cx="2743200" cy="987552"/>
          </a:xfrm>
          <a:prstGeom prst="roundRect">
            <a:avLst>
              <a:gd name="adj" fmla="val 7407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42432" y="31272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How much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42432" y="34290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AAB7C7"/>
                </a:solidFill>
              </a:rPr>
              <a:t>edge_size + resolution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8485632" y="2880360"/>
            <a:ext cx="2971800" cy="987552"/>
          </a:xfrm>
          <a:prstGeom prst="roundRect">
            <a:avLst>
              <a:gd name="adj" fmla="val 7407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05088" y="3127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Which backend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05088" y="34290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AAB7C7"/>
                </a:solidFill>
              </a:rPr>
              <a:t>default STAC, `stac="..."`, or `gee=True`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5532120" y="45262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02336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33872" y="48280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default STAC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71232" y="452628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02336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863840" y="47365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custom STAC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endpoint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765792" y="452628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164B3F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177272" y="48280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GEE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36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 · xarray · Dask · GitHub Pages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xarray mental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remote EO cube becomes a labeled array with dimensions you can name.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7780">
            <a:solidFill>
              <a:srgbClr val="2AD0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27632"/>
            <a:ext cx="4114800" cy="4434840"/>
          </a:xfrm>
          <a:prstGeom prst="roundRect">
            <a:avLst>
              <a:gd name="adj" fmla="val 1778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8470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Think in dimensions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64208" y="2852928"/>
            <a:ext cx="1874520" cy="1298448"/>
          </a:xfrm>
          <a:prstGeom prst="rect">
            <a:avLst/>
          </a:prstGeom>
          <a:solidFill>
            <a:srgbClr val="1C4F66"/>
          </a:solidFill>
          <a:ln w="11430">
            <a:solidFill>
              <a:srgbClr val="6FA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32381" y="2852928"/>
            <a:ext cx="0" cy="1298448"/>
          </a:xfrm>
          <a:prstGeom prst="line">
            <a:avLst/>
          </a:prstGeom>
          <a:noFill/>
          <a:ln w="7620">
            <a:solidFill>
              <a:srgbClr val="2C6B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0554" y="2852928"/>
            <a:ext cx="0" cy="1298448"/>
          </a:xfrm>
          <a:prstGeom prst="line">
            <a:avLst/>
          </a:prstGeom>
          <a:noFill/>
          <a:ln w="7620">
            <a:solidFill>
              <a:srgbClr val="2C6B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8726" y="2852928"/>
            <a:ext cx="0" cy="1298448"/>
          </a:xfrm>
          <a:prstGeom prst="line">
            <a:avLst/>
          </a:prstGeom>
          <a:noFill/>
          <a:ln w="7620">
            <a:solidFill>
              <a:srgbClr val="2C6B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64208" y="3285439"/>
            <a:ext cx="1874520" cy="0"/>
          </a:xfrm>
          <a:prstGeom prst="line">
            <a:avLst/>
          </a:prstGeom>
          <a:noFill/>
          <a:ln w="7620">
            <a:solidFill>
              <a:srgbClr val="2C6B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64208" y="3717950"/>
            <a:ext cx="1874520" cy="0"/>
          </a:xfrm>
          <a:prstGeom prst="line">
            <a:avLst/>
          </a:prstGeom>
          <a:noFill/>
          <a:ln w="7620">
            <a:solidFill>
              <a:srgbClr val="2C6B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7249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D0C9"/>
                </a:solidFill>
              </a:rPr>
              <a:t>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323697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D0C9"/>
                </a:solidFill>
              </a:rPr>
              <a:t>band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4315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D0C9"/>
                </a:solidFill>
              </a:rPr>
              <a:t>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93592" y="4315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D0C9"/>
                </a:solidFill>
              </a:rPr>
              <a:t>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8920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Typical EO cube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`(time, band, y, x)`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102352" y="173736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0A1726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66944" y="1865376"/>
            <a:ext cx="2139696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"2024-01"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"time"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"time.month"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82128" y="17373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0" y="19751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Why this matters in class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56448" y="2436876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235915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say what they want by dimension name</a:t>
            </a:r>
            <a:endParaRPr lang="en-US" sz="1330" dirty="0"/>
          </a:p>
        </p:txBody>
      </p:sp>
      <p:sp>
        <p:nvSpPr>
          <p:cNvPr id="24" name="Shape 22"/>
          <p:cNvSpPr/>
          <p:nvPr/>
        </p:nvSpPr>
        <p:spPr>
          <a:xfrm>
            <a:off x="8156448" y="2939796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286207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API works whether arrays are NumPy-backed or Dask-backed</a:t>
            </a:r>
            <a:endParaRPr lang="en-US" sz="1330" dirty="0"/>
          </a:p>
        </p:txBody>
      </p:sp>
      <p:sp>
        <p:nvSpPr>
          <p:cNvPr id="26" name="Shape 24"/>
          <p:cNvSpPr/>
          <p:nvPr/>
        </p:nvSpPr>
        <p:spPr>
          <a:xfrm>
            <a:off x="8156448" y="3442716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336499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stays attached to the analysis object</a:t>
            </a:r>
            <a:endParaRPr lang="en-US" sz="1330" dirty="0"/>
          </a:p>
        </p:txBody>
      </p:sp>
      <p:sp>
        <p:nvSpPr>
          <p:cNvPr id="28" name="Shape 26"/>
          <p:cNvSpPr/>
          <p:nvPr/>
        </p:nvSpPr>
        <p:spPr>
          <a:xfrm>
            <a:off x="5102352" y="4069080"/>
            <a:ext cx="6400800" cy="1975104"/>
          </a:xfrm>
          <a:prstGeom prst="roundRect">
            <a:avLst>
              <a:gd name="adj" fmla="val 3704"/>
            </a:avLst>
          </a:prstGeom>
          <a:solidFill>
            <a:srgbClr val="102336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49240" y="43342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In practice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40096" y="4645152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5F7FA"/>
                </a:solidFill>
              </a:rPr>
              <a:t>Ask learners to say their operation out loud in xarray terms: “select a band”, “average over time”, “summarize over space”. That makes the code easier to remember than raw indexing.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5836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 · xarray · Dask · GitHub Pages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90-minute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Front-load the concepts, then move quickly into live notebook work.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7780">
            <a:solidFill>
              <a:srgbClr val="2AD0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3703320"/>
            <a:ext cx="10241280" cy="0"/>
          </a:xfrm>
          <a:prstGeom prst="line">
            <a:avLst/>
          </a:prstGeom>
          <a:noFill/>
          <a:ln w="31750">
            <a:solidFill>
              <a:srgbClr val="2844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4688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E2033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27048" y="3529584"/>
            <a:ext cx="329184" cy="329184"/>
          </a:xfrm>
          <a:prstGeom prst="ellipse">
            <a:avLst/>
          </a:prstGeom>
          <a:solidFill>
            <a:srgbClr val="6FA8F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69748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A8FF"/>
                </a:solidFill>
              </a:rPr>
              <a:t>10 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5F7FA"/>
                </a:solidFill>
              </a:rPr>
              <a:t>Dask + xarray basics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2670048" y="24688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E2033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82696" y="3529584"/>
            <a:ext cx="329184" cy="329184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269748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D0C9"/>
                </a:solidFill>
              </a:rPr>
              <a:t>15 min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07208" y="3035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5F7FA"/>
                </a:solidFill>
              </a:rPr>
              <a:t>cubo API pattern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4526280" y="24688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0E2033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07508" y="3529584"/>
            <a:ext cx="329184" cy="329184"/>
          </a:xfrm>
          <a:prstGeom prst="ellipse">
            <a:avLst/>
          </a:prstGeom>
          <a:solidFill>
            <a:srgbClr val="7AE582"/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2697480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E582"/>
                </a:solidFill>
              </a:rPr>
              <a:t>20 min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30358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5F7FA"/>
                </a:solidFill>
              </a:rPr>
              <a:t>Africa / MODIS demo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565392" y="24688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0E2033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46620" y="3529584"/>
            <a:ext cx="329184" cy="329184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2697480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</a:rPr>
              <a:t>20 min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02552" y="30358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5F7FA"/>
                </a:solidFill>
              </a:rPr>
              <a:t>Asia / Sentinel-3 demo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8577072" y="24688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E2033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21140" y="3529584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41664" y="2697480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</a:rPr>
              <a:t>15 min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714232" y="30358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5F7FA"/>
                </a:solidFill>
              </a:rPr>
              <a:t>STAC endpoint swap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10222992" y="2468880"/>
            <a:ext cx="822960" cy="914400"/>
          </a:xfrm>
          <a:prstGeom prst="roundRect">
            <a:avLst>
              <a:gd name="adj" fmla="val 8889"/>
            </a:avLst>
          </a:prstGeom>
          <a:solidFill>
            <a:srgbClr val="0E2033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469880" y="3529584"/>
            <a:ext cx="329184" cy="329184"/>
          </a:xfrm>
          <a:prstGeom prst="ellipse">
            <a:avLst/>
          </a:prstGeom>
          <a:solidFill>
            <a:srgbClr val="6FA8F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87584" y="269748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A8FF"/>
                </a:solidFill>
              </a:rPr>
              <a:t>10 min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360152" y="3035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F5F7FA"/>
                </a:solidFill>
              </a:rPr>
              <a:t>GitHub Pages wrap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713232" y="466344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32688" y="49194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Rule of thumb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32688" y="52303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</a:rPr>
              <a:t>Never spend most of the session on installation details; show the object shape and chunks as early as possible.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864608" y="466344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84064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Notebook rhythm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84064" y="52486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AD0C9"/>
                </a:solidFill>
              </a:rPr>
              <a:t>create cube → inspect dims → lazy op → compute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8065008" y="4663440"/>
            <a:ext cx="3401568" cy="1143000"/>
          </a:xfrm>
          <a:prstGeom prst="roundRect">
            <a:avLst>
              <a:gd name="adj" fmla="val 6400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7532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Site deliverables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75320" y="524865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AD0C9"/>
                </a:solidFill>
              </a:rPr>
              <a:t>slides + notebook + rendered HTML page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65836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 · xarray · Dask · GitHub Pages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example 1 — Africa vegetation monitoring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MODIS NDVI/EVI to explain scale factors, time series summaries, and late compute.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7780">
            <a:solidFill>
              <a:srgbClr val="2AD0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4592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pic>
        <p:nvPicPr>
          <p:cNvPr id="6" name="Image 0" descr="/mnt/data/assets/africa_modis_landcover.jpg">    </p:cNvPr>
          <p:cNvPicPr>
            <a:picLocks noChangeAspect="1"/>
          </p:cNvPicPr>
          <p:nvPr/>
        </p:nvPicPr>
        <p:blipFill>
          <a:blip r:embed="rId1"/>
          <a:srcRect l="0" r="0" t="5197" b="5197"/>
          <a:stretch/>
        </p:blipFill>
        <p:spPr>
          <a:xfrm>
            <a:off x="786384" y="1783080"/>
            <a:ext cx="3401568" cy="2057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40873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Suggested teaching AOI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44074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</a:rPr>
              <a:t>Horn of Africa or Sahel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</a:rPr>
              <a:t>small spatial window, one seasonal year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932688" y="5285232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6FA8F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529437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2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55648" y="528523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55648" y="5294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days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88920" y="5285232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7AE582"/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88920" y="529437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NDVI/EVI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53712" y="1737360"/>
            <a:ext cx="4526280" cy="4343400"/>
          </a:xfrm>
          <a:prstGeom prst="roundRect">
            <a:avLst>
              <a:gd name="adj" fmla="val 1684"/>
            </a:avLst>
          </a:prstGeom>
          <a:solidFill>
            <a:srgbClr val="0A1726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18304" y="1865376"/>
            <a:ext cx="4197096" cy="4087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opt_url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"https://earthengine-highvolume.googleapis.com"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cubo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8.98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39.79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collection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"MODIS/061/MOD13Q1"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bands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"NDVI"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"EVI"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"2021-01-01"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"2021-12-31"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edge_size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resolution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ndvi_ts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10000.0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"NDVI"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308592" y="1737360"/>
            <a:ext cx="2240280" cy="4343400"/>
          </a:xfrm>
          <a:prstGeom prst="roundRect">
            <a:avLst>
              <a:gd name="adj" fmla="val 3265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546336" y="1975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What to emphasize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555480" y="2400300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01784" y="23225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create pattern as every other example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555480" y="3040380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01784" y="296265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vegetation products often need scale-factor handling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555480" y="3680460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01784" y="36027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summaries over space can stay lazy until plotting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555480" y="4320540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01784" y="424281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masking is the next step after the basic demo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836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 · xarray · Dask · GitHub Pages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example 2 — Asia coastal quicklook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same cubo call structure, swap the collection, and discuss band choice.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7780">
            <a:solidFill>
              <a:srgbClr val="2AD0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45920"/>
            <a:ext cx="3749040" cy="4480560"/>
          </a:xfrm>
          <a:prstGeom prst="roundRect">
            <a:avLst>
              <a:gd name="adj" fmla="val 1951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pic>
        <p:nvPicPr>
          <p:cNvPr id="6" name="Image 0" descr="/mnt/data/assets/asia_floods.jpg">    </p:cNvPr>
          <p:cNvPicPr>
            <a:picLocks noChangeAspect="1"/>
          </p:cNvPicPr>
          <p:nvPr/>
        </p:nvPicPr>
        <p:blipFill>
          <a:blip r:embed="rId1"/>
          <a:srcRect l="0" r="0" t="1886" b="1886"/>
          <a:stretch/>
        </p:blipFill>
        <p:spPr>
          <a:xfrm>
            <a:off x="786384" y="1773936"/>
            <a:ext cx="3493008" cy="2240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42702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Suggested teaching AOI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0976" y="45902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</a:rPr>
              <a:t>Ganges–Brahmaputra delta / coastal Bangladesh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950976" y="5340096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6FA8F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53492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2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83080" y="5340096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83080" y="5349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bands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34056" y="5340096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34056" y="53492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2D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days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17720" y="1737360"/>
            <a:ext cx="4389120" cy="4343400"/>
          </a:xfrm>
          <a:prstGeom prst="roundRect">
            <a:avLst>
              <a:gd name="adj" fmla="val 1684"/>
            </a:avLst>
          </a:prstGeom>
          <a:solidFill>
            <a:srgbClr val="0A1726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82312" y="1865376"/>
            <a:ext cx="4059936" cy="4087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cubo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22.20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90.70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collection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"COPERNICUS/S3/OLCI"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bands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"Oa08_radiance"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"Oa06_radiance"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"Oa04_radiance"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"2024-01-01"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"2024-01-10"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edge_size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resolution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cube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"time"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235440" y="1737360"/>
            <a:ext cx="2304288" cy="4343400"/>
          </a:xfrm>
          <a:prstGeom prst="roundRect">
            <a:avLst>
              <a:gd name="adj" fmla="val 3175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491472" y="1975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Discussion prompts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491472" y="2418588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37776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Sentinel-3 is useful for regional coastal monitoring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491472" y="3150108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37776" y="3072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bands you would visualize first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491472" y="3881628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37776" y="3803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quicklooks differ from quantitative indicators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836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 · xarray · Dask · GitHub Pages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tutorial on GitHub Pages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simplest path is a /docs folder with a landing page and static assets.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7780">
            <a:solidFill>
              <a:srgbClr val="2AD0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2971800"/>
            <a:ext cx="822960" cy="0"/>
          </a:xfrm>
          <a:prstGeom prst="line">
            <a:avLst/>
          </a:prstGeom>
          <a:noFill/>
          <a:ln w="25400">
            <a:solidFill>
              <a:srgbClr val="2AD0C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0012680" y="2971800"/>
            <a:ext cx="822960" cy="0"/>
          </a:xfrm>
          <a:prstGeom prst="line">
            <a:avLst/>
          </a:prstGeom>
          <a:noFill/>
          <a:ln w="25400">
            <a:solidFill>
              <a:srgbClr val="2AD0C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94944" y="1664208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901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Recommended repo structure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267712"/>
            <a:ext cx="5047488" cy="2606040"/>
          </a:xfrm>
          <a:prstGeom prst="roundRect">
            <a:avLst>
              <a:gd name="adj" fmla="val 2807"/>
            </a:avLst>
          </a:prstGeom>
          <a:solidFill>
            <a:srgbClr val="0A1726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2395728"/>
            <a:ext cx="4718304" cy="2350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index.md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tutorial.md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slides.md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assets/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cubo_xarray_dask_tutorial.ipynb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cubo_xarray_dask_tutorial.html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cubo_xarray_dask_presentation.pptx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51937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</a:rPr>
              <a:t>Keep the notebook, rendered HTML, and PowerPoint in one place so the site becomes the teaching hub.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73952" y="237744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102336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48272" y="272491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branch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57032" y="237744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102336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40496" y="272491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/docs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195560" y="2377440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164B3F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0" y="27249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site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73952" y="4069080"/>
            <a:ext cx="5047488" cy="1554480"/>
          </a:xfrm>
          <a:prstGeom prst="roundRect">
            <a:avLst>
              <a:gd name="adj" fmla="val 4706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93408" y="4448556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4370832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 accepts a branch source and can publish from `/docs`.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693408" y="4832604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4754880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top-level entry can be `index.html`, `index.md`, or `README.md`.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93408" y="5216652"/>
            <a:ext cx="73152" cy="73152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513892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the notebook HTML and the `.pptx` from the landing page.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836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 · xarray · Dask · GitHub Pages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toolchain simple enough to teach, but correct enough to scale later.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7780">
            <a:solidFill>
              <a:srgbClr val="2AD0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81528" y="3429000"/>
            <a:ext cx="914400" cy="0"/>
          </a:xfrm>
          <a:prstGeom prst="line">
            <a:avLst/>
          </a:prstGeom>
          <a:noFill/>
          <a:ln w="25400">
            <a:solidFill>
              <a:srgbClr val="2AD0C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742432" y="3429000"/>
            <a:ext cx="914400" cy="0"/>
          </a:xfrm>
          <a:prstGeom prst="line">
            <a:avLst/>
          </a:prstGeom>
          <a:noFill/>
          <a:ln w="25400">
            <a:solidFill>
              <a:srgbClr val="2AD0C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394192" y="3429000"/>
            <a:ext cx="914400" cy="0"/>
          </a:xfrm>
          <a:prstGeom prst="line">
            <a:avLst/>
          </a:prstGeom>
          <a:noFill/>
          <a:ln w="25400">
            <a:solidFill>
              <a:srgbClr val="2AD0C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96112" y="237744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82496" y="2651760"/>
            <a:ext cx="566928" cy="566928"/>
          </a:xfrm>
          <a:prstGeom prst="ellipse">
            <a:avLst/>
          </a:prstGeom>
          <a:solidFill>
            <a:srgbClr val="6FA8F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3429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Access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24712" y="37490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7C7"/>
                </a:solidFill>
              </a:rPr>
              <a:t>Use `cubo` as the single entry point.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237744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2544" y="2651760"/>
            <a:ext cx="566928" cy="566928"/>
          </a:xfrm>
          <a:prstGeom prst="ellipse">
            <a:avLst/>
          </a:prstGeom>
          <a:solidFill>
            <a:srgbClr val="2AD0C9"/>
          </a:solidFill>
          <a:ln w="12700">
            <a:solidFill>
              <a:srgbClr val="2AD0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3429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Model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94760" y="37490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7C7"/>
                </a:solidFill>
              </a:rPr>
              <a:t>Treat the result as an `xarray` object with named dimensions.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6208" y="237744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22592" y="2651760"/>
            <a:ext cx="566928" cy="566928"/>
          </a:xfrm>
          <a:prstGeom prst="ellipse">
            <a:avLst/>
          </a:prstGeom>
          <a:solidFill>
            <a:srgbClr val="7AE582"/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3429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Scale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64808" y="37490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7C7"/>
                </a:solidFill>
              </a:rPr>
              <a:t>Let Dask keep the workflow lazy until the final step.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06256" y="237744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0D1C2D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92640" y="2651760"/>
            <a:ext cx="566928" cy="56692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6296" y="34290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Publish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34856" y="37490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7C7"/>
                </a:solidFill>
              </a:rPr>
              <a:t>Turn the notebook and deck into a small GitHub Pages site.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371600" y="5120640"/>
            <a:ext cx="9418320" cy="731520"/>
          </a:xfrm>
          <a:prstGeom prst="roundRect">
            <a:avLst>
              <a:gd name="adj" fmla="val 10000"/>
            </a:avLst>
          </a:prstGeom>
          <a:solidFill>
            <a:srgbClr val="102336"/>
          </a:solidFill>
          <a:ln w="12700">
            <a:solidFill>
              <a:srgbClr val="2844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645920" y="5358384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Best closing line for the session: “same call, same object model, same notebook — only the collection changes.”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836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 tutorial with cubo, xarray, and Dask</dc:title>
  <dc:subject>Dask, xarray, cubo tutorial</dc:subject>
  <dc:creator>OpenAI</dc:creator>
  <cp:lastModifiedBy>OpenAI</cp:lastModifiedBy>
  <cp:revision>1</cp:revision>
  <dcterms:created xsi:type="dcterms:W3CDTF">2026-03-23T09:29:19Z</dcterms:created>
  <dcterms:modified xsi:type="dcterms:W3CDTF">2026-03-23T09:29:19Z</dcterms:modified>
</cp:coreProperties>
</file>